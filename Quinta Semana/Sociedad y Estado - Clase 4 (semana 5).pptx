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67" r:id="rId14"/>
    <p:sldId id="268" r:id="rId15"/>
    <p:sldId id="269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0" roundtripDataSignature="AMtx7miPzR7zzr3K2+35FaliJhRtL3b1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2034" y="6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0" name="Google Shape;9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9" name="Google Shape;9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7" name="Google Shape;11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6" name="Google Shape;13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5" name="Google Shape;14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4" name="Google Shape;154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3" name="Google Shape;16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6528e8682b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6528e8682b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6528e8682b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6528e8682b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78685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6528e8682b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6528e8682b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6528e8682b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6528e8682b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6528e8682b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6528e8682b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"/>
          <p:cNvSpPr txBox="1"/>
          <p:nvPr/>
        </p:nvSpPr>
        <p:spPr>
          <a:xfrm>
            <a:off x="780142" y="1198262"/>
            <a:ext cx="7331400" cy="1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-AR" sz="6000" b="1" i="0" u="none" strike="noStrike" cap="none" dirty="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Sociedad y Estado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-AR" sz="6000" b="1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Clase </a:t>
            </a:r>
            <a:r>
              <a:rPr lang="es-AR" sz="6000" b="1" dirty="0">
                <a:solidFill>
                  <a:schemeClr val="dk2"/>
                </a:solidFill>
              </a:rPr>
              <a:t>4 (semana 5)</a:t>
            </a:r>
            <a:endParaRPr sz="14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" name="Google Shape;85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11714" y="430213"/>
            <a:ext cx="2053549" cy="5857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"/>
          <p:cNvSpPr/>
          <p:nvPr/>
        </p:nvSpPr>
        <p:spPr>
          <a:xfrm>
            <a:off x="823451" y="3450696"/>
            <a:ext cx="10545098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200" b="1" dirty="0">
                <a:solidFill>
                  <a:schemeClr val="dk2"/>
                </a:solidFill>
              </a:rPr>
              <a:t>El Estado. Teorías sobre su naturaleza. Definición y Tipos de Estado. Importancia y elementos constitutivos. El territorio y doctrinas geopolíticas.</a:t>
            </a:r>
            <a:endParaRPr sz="3200" b="1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780142" y="5289858"/>
            <a:ext cx="9159192" cy="133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 b="0" i="0" u="none" strike="noStrike" cap="none" dirty="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Bibliografía:</a:t>
            </a:r>
            <a:br>
              <a:rPr lang="es-AR" sz="1800" b="0" i="0" u="none" strike="noStrike" cap="none" dirty="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AR" sz="1800" b="0" i="0" u="none" strike="noStrike" cap="none" dirty="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s-AR" sz="1800" dirty="0">
                <a:solidFill>
                  <a:srgbClr val="3A3838"/>
                </a:solidFill>
              </a:rPr>
              <a:t>Bobbio, Norberto</a:t>
            </a:r>
            <a:r>
              <a:rPr lang="es-AR" sz="1800" b="0" i="0" u="none" strike="noStrike" cap="none" dirty="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: “</a:t>
            </a:r>
            <a:r>
              <a:rPr lang="es-AR" sz="1800" dirty="0">
                <a:solidFill>
                  <a:srgbClr val="3A3838"/>
                </a:solidFill>
              </a:rPr>
              <a:t>Estado, gobierno y sociedad</a:t>
            </a:r>
            <a:r>
              <a:rPr lang="es-AR" sz="1800" b="0" i="0" u="none" strike="noStrike" cap="none" dirty="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”.</a:t>
            </a:r>
            <a:br>
              <a:rPr lang="es-AR" sz="1800" b="0" i="0" u="none" strike="noStrike" cap="none" dirty="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AR" sz="1800" b="0" i="0" u="none" strike="noStrike" cap="none" dirty="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s-AR" sz="1800" dirty="0" err="1">
                <a:solidFill>
                  <a:srgbClr val="3A3838"/>
                </a:solidFill>
              </a:rPr>
              <a:t>Lafferriere</a:t>
            </a:r>
            <a:r>
              <a:rPr lang="es-AR" sz="1800" dirty="0">
                <a:solidFill>
                  <a:srgbClr val="3A3838"/>
                </a:solidFill>
              </a:rPr>
              <a:t>, Augusto Diego</a:t>
            </a:r>
            <a:r>
              <a:rPr lang="es-AR" sz="1800" b="0" i="0" u="none" strike="noStrike" cap="none" dirty="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: “</a:t>
            </a:r>
            <a:r>
              <a:rPr lang="es-AR" sz="1800" dirty="0">
                <a:solidFill>
                  <a:srgbClr val="3A3838"/>
                </a:solidFill>
              </a:rPr>
              <a:t>Curso de derecho político</a:t>
            </a:r>
            <a:r>
              <a:rPr lang="es-AR" sz="1800" b="0" i="0" u="none" strike="noStrike" cap="none" dirty="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”.</a:t>
            </a:r>
            <a:endParaRPr sz="1800" b="0" i="0" u="none" strike="noStrike" cap="none" dirty="0">
              <a:solidFill>
                <a:srgbClr val="3A383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7" descr="C:\Users\Idiomas\Downloads\Fadena-Negativo-FondoClaro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52150" y="4712689"/>
            <a:ext cx="2792623" cy="781936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7" descr="C:\Users\Idiomas\Downloads\Fadena-Negativo-FondoClaro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04550" y="4865089"/>
            <a:ext cx="2792623" cy="781936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7"/>
          <p:cNvSpPr/>
          <p:nvPr/>
        </p:nvSpPr>
        <p:spPr>
          <a:xfrm>
            <a:off x="302525" y="148409"/>
            <a:ext cx="11422716" cy="6370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1800" b="1" dirty="0">
                <a:solidFill>
                  <a:schemeClr val="dk1"/>
                </a:solidFill>
              </a:rPr>
              <a:t>Concepto de Estado </a:t>
            </a:r>
            <a:endParaRPr sz="1800" b="1" dirty="0">
              <a:solidFill>
                <a:schemeClr val="dk1"/>
              </a:solidFill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AR" sz="1800" b="1" dirty="0">
                <a:solidFill>
                  <a:schemeClr val="dk1"/>
                </a:solidFill>
              </a:rPr>
              <a:t>Definición fundamental:</a:t>
            </a:r>
            <a:r>
              <a:rPr lang="es-AR" sz="1800" dirty="0">
                <a:solidFill>
                  <a:schemeClr val="dk1"/>
                </a:solidFill>
              </a:rPr>
              <a:t> El Estado puede definirse como una </a:t>
            </a:r>
            <a:r>
              <a:rPr lang="es-AR" sz="1800" b="1" dirty="0">
                <a:solidFill>
                  <a:schemeClr val="dk1"/>
                </a:solidFill>
              </a:rPr>
              <a:t>comunidad políticamente organizada en un ámbito territorial determinado</a:t>
            </a:r>
            <a:r>
              <a:rPr lang="es-AR" sz="1800" dirty="0">
                <a:solidFill>
                  <a:schemeClr val="dk1"/>
                </a:solidFill>
              </a:rPr>
              <a:t>.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AR" sz="1800" dirty="0">
                <a:solidFill>
                  <a:schemeClr val="dk1"/>
                </a:solidFill>
              </a:rPr>
              <a:t>Es una </a:t>
            </a:r>
            <a:r>
              <a:rPr lang="es-AR" sz="1800" b="1" dirty="0">
                <a:solidFill>
                  <a:schemeClr val="dk1"/>
                </a:solidFill>
              </a:rPr>
              <a:t>institución de carácter político</a:t>
            </a:r>
            <a:r>
              <a:rPr lang="es-AR" sz="1800" dirty="0">
                <a:solidFill>
                  <a:schemeClr val="dk1"/>
                </a:solidFill>
              </a:rPr>
              <a:t> que posee instituciones objetivas (normadas) encargadas de </a:t>
            </a:r>
            <a:r>
              <a:rPr lang="es-AR" sz="1800" b="1" dirty="0">
                <a:solidFill>
                  <a:schemeClr val="dk1"/>
                </a:solidFill>
              </a:rPr>
              <a:t>declarar y sostener el derecho</a:t>
            </a:r>
            <a:r>
              <a:rPr lang="es-AR" sz="1800" dirty="0">
                <a:solidFill>
                  <a:schemeClr val="dk1"/>
                </a:solidFill>
              </a:rPr>
              <a:t>, garantizando el orden a través del </a:t>
            </a:r>
            <a:r>
              <a:rPr lang="es-AR" sz="1800" b="1" dirty="0">
                <a:solidFill>
                  <a:schemeClr val="dk1"/>
                </a:solidFill>
              </a:rPr>
              <a:t>monopolio de la fuerza</a:t>
            </a:r>
            <a:r>
              <a:rPr lang="es-AR" sz="1800" dirty="0">
                <a:solidFill>
                  <a:schemeClr val="dk1"/>
                </a:solidFill>
              </a:rPr>
              <a:t>.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AR" sz="1800" b="1" dirty="0">
                <a:solidFill>
                  <a:schemeClr val="dk1"/>
                </a:solidFill>
              </a:rPr>
              <a:t>Perspectivas complementarias:</a:t>
            </a:r>
            <a:endParaRPr sz="1800" dirty="0">
              <a:solidFill>
                <a:schemeClr val="dk1"/>
              </a:solidFill>
            </a:endParaRPr>
          </a:p>
          <a:p>
            <a:pPr marL="914400" lvl="1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AR" sz="1800" dirty="0">
                <a:solidFill>
                  <a:schemeClr val="dk1"/>
                </a:solidFill>
              </a:rPr>
              <a:t>Desde una </a:t>
            </a:r>
            <a:r>
              <a:rPr lang="es-AR" sz="1800" b="1" dirty="0">
                <a:solidFill>
                  <a:schemeClr val="dk1"/>
                </a:solidFill>
              </a:rPr>
              <a:t>óptica sociológica</a:t>
            </a:r>
            <a:r>
              <a:rPr lang="es-AR" sz="1800" dirty="0">
                <a:solidFill>
                  <a:schemeClr val="dk1"/>
                </a:solidFill>
              </a:rPr>
              <a:t>, es una forma de vida social históricamente determinada.</a:t>
            </a:r>
            <a:endParaRPr sz="1800" dirty="0">
              <a:solidFill>
                <a:schemeClr val="dk1"/>
              </a:solidFill>
            </a:endParaRPr>
          </a:p>
          <a:p>
            <a:pPr marL="914400" lvl="1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AR" sz="1800" dirty="0">
                <a:solidFill>
                  <a:schemeClr val="dk1"/>
                </a:solidFill>
              </a:rPr>
              <a:t>Desde una </a:t>
            </a:r>
            <a:r>
              <a:rPr lang="es-AR" sz="1800" b="1" dirty="0">
                <a:solidFill>
                  <a:schemeClr val="dk1"/>
                </a:solidFill>
              </a:rPr>
              <a:t>perspectiva política</a:t>
            </a:r>
            <a:r>
              <a:rPr lang="es-AR" sz="1800" dirty="0">
                <a:solidFill>
                  <a:schemeClr val="dk1"/>
                </a:solidFill>
              </a:rPr>
              <a:t>, es una estructura con </a:t>
            </a:r>
            <a:r>
              <a:rPr lang="es-AR" sz="1800" b="1" dirty="0">
                <a:solidFill>
                  <a:schemeClr val="dk1"/>
                </a:solidFill>
              </a:rPr>
              <a:t>elementos esenciales</a:t>
            </a:r>
            <a:r>
              <a:rPr lang="es-AR" sz="1800" dirty="0">
                <a:solidFill>
                  <a:schemeClr val="dk1"/>
                </a:solidFill>
              </a:rPr>
              <a:t> (población, territorio, gobierno y derecho) y </a:t>
            </a:r>
            <a:r>
              <a:rPr lang="es-AR" sz="1800" b="1" dirty="0">
                <a:solidFill>
                  <a:schemeClr val="dk1"/>
                </a:solidFill>
              </a:rPr>
              <a:t>modales</a:t>
            </a:r>
            <a:r>
              <a:rPr lang="es-AR" sz="1800" dirty="0">
                <a:solidFill>
                  <a:schemeClr val="dk1"/>
                </a:solidFill>
              </a:rPr>
              <a:t> (soberanía e imperio de la ley).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AR" sz="1800" b="1" dirty="0">
                <a:solidFill>
                  <a:schemeClr val="dk1"/>
                </a:solidFill>
              </a:rPr>
              <a:t>Rasgo distintivo del Estado moderno:</a:t>
            </a:r>
            <a:r>
              <a:rPr lang="es-AR" sz="1800" dirty="0">
                <a:solidFill>
                  <a:schemeClr val="dk1"/>
                </a:solidFill>
              </a:rPr>
              <a:t> La idea de </a:t>
            </a:r>
            <a:r>
              <a:rPr lang="es-AR" sz="1800" b="1" dirty="0">
                <a:solidFill>
                  <a:schemeClr val="dk1"/>
                </a:solidFill>
              </a:rPr>
              <a:t>soberanía</a:t>
            </a:r>
            <a:r>
              <a:rPr lang="es-AR" sz="1800" dirty="0">
                <a:solidFill>
                  <a:schemeClr val="dk1"/>
                </a:solidFill>
              </a:rPr>
              <a:t> es el elemento que califica al poder institucionalizado del Estado moderno. Esto significa que tiene la autoridad suprema dentro de sus fronteras y es independiente de otros Estados.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●"/>
            </a:pPr>
            <a:r>
              <a:rPr lang="es-AR" sz="1800" dirty="0">
                <a:solidFill>
                  <a:schemeClr val="dk1"/>
                </a:solidFill>
              </a:rPr>
              <a:t>La </a:t>
            </a:r>
            <a:r>
              <a:rPr lang="es-AR" sz="1800" b="1" dirty="0">
                <a:solidFill>
                  <a:schemeClr val="dk1"/>
                </a:solidFill>
              </a:rPr>
              <a:t>Teoría del Estado</a:t>
            </a:r>
            <a:r>
              <a:rPr lang="es-AR" sz="1800" dirty="0">
                <a:solidFill>
                  <a:schemeClr val="dk1"/>
                </a:solidFill>
              </a:rPr>
              <a:t> es la disciplina que estudia al Estado en su totalidad, abarcando su origen, evolución, estructura, justificación, funcionamiento y finalidad. </a:t>
            </a:r>
            <a:endParaRPr sz="1800" b="1" dirty="0">
              <a:solidFill>
                <a:schemeClr val="dk2"/>
              </a:solidFill>
            </a:endParaRPr>
          </a:p>
        </p:txBody>
      </p:sp>
      <p:pic>
        <p:nvPicPr>
          <p:cNvPr id="96" name="Google Shape;96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71692" y="5933555"/>
            <a:ext cx="2053549" cy="585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1" descr="C:\Users\Idiomas\Downloads\Fadena-Negativo-FondoClaro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52150" y="4712689"/>
            <a:ext cx="2792623" cy="7819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1" descr="C:\Users\Idiomas\Downloads\Fadena-Negativo-FondoClaro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04550" y="4865089"/>
            <a:ext cx="2792623" cy="7819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71692" y="5933555"/>
            <a:ext cx="2053549" cy="585788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 txBox="1"/>
          <p:nvPr/>
        </p:nvSpPr>
        <p:spPr>
          <a:xfrm>
            <a:off x="354842" y="586854"/>
            <a:ext cx="11514958" cy="547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AR" sz="1800" b="1" dirty="0">
                <a:solidFill>
                  <a:schemeClr val="dk1"/>
                </a:solidFill>
              </a:rPr>
              <a:t>Crisis del Estado </a:t>
            </a:r>
            <a:endParaRPr sz="1800" b="1" dirty="0">
              <a:solidFill>
                <a:schemeClr val="dk1"/>
              </a:solidFill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AR" sz="1800" dirty="0">
                <a:solidFill>
                  <a:schemeClr val="dk1"/>
                </a:solidFill>
              </a:rPr>
              <a:t>Los </a:t>
            </a:r>
            <a:r>
              <a:rPr lang="es-AR" sz="1800" b="1" dirty="0">
                <a:solidFill>
                  <a:schemeClr val="dk1"/>
                </a:solidFill>
              </a:rPr>
              <a:t>Estados nacionales</a:t>
            </a:r>
            <a:r>
              <a:rPr lang="es-AR" sz="1800" dirty="0">
                <a:solidFill>
                  <a:schemeClr val="dk1"/>
                </a:solidFill>
              </a:rPr>
              <a:t> surgieron a finales del siglo XVIII y alcanzaron su auge en el siglo XX. Sin embargo, hoy enfrentan un </a:t>
            </a:r>
            <a:r>
              <a:rPr lang="es-AR" sz="1800" b="1" dirty="0">
                <a:solidFill>
                  <a:schemeClr val="dk1"/>
                </a:solidFill>
              </a:rPr>
              <a:t>debilitamiento paulatino de su poder de mando</a:t>
            </a:r>
            <a:r>
              <a:rPr lang="es-AR" sz="1800" dirty="0">
                <a:solidFill>
                  <a:schemeClr val="dk1"/>
                </a:solidFill>
              </a:rPr>
              <a:t>.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AR" sz="1800" b="1" dirty="0">
                <a:solidFill>
                  <a:schemeClr val="dk1"/>
                </a:solidFill>
              </a:rPr>
              <a:t>Factores de debilitamiento:</a:t>
            </a:r>
            <a:endParaRPr sz="1800" dirty="0">
              <a:solidFill>
                <a:schemeClr val="dk1"/>
              </a:solidFill>
            </a:endParaRPr>
          </a:p>
          <a:p>
            <a:pPr marL="914400" lvl="1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AR" sz="1800" b="1" dirty="0">
                <a:solidFill>
                  <a:schemeClr val="dk1"/>
                </a:solidFill>
              </a:rPr>
              <a:t>Avance tecnológico: (medios de transporte, telecomunicaciones etc.)</a:t>
            </a:r>
            <a:r>
              <a:rPr lang="es-AR" sz="1800" dirty="0">
                <a:solidFill>
                  <a:schemeClr val="dk1"/>
                </a:solidFill>
              </a:rPr>
              <a:t>.</a:t>
            </a:r>
            <a:endParaRPr sz="1800" dirty="0">
              <a:solidFill>
                <a:schemeClr val="dk1"/>
              </a:solidFill>
            </a:endParaRPr>
          </a:p>
          <a:p>
            <a:pPr marL="914400" lvl="1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AR" sz="1800" b="1" dirty="0">
                <a:solidFill>
                  <a:schemeClr val="dk1"/>
                </a:solidFill>
              </a:rPr>
              <a:t>Intercambio comercial y de servicios:</a:t>
            </a:r>
            <a:r>
              <a:rPr lang="es-AR" sz="1800" dirty="0">
                <a:solidFill>
                  <a:schemeClr val="dk1"/>
                </a:solidFill>
              </a:rPr>
              <a:t> (Intensificación del comercio).</a:t>
            </a:r>
            <a:endParaRPr sz="1800" dirty="0">
              <a:solidFill>
                <a:schemeClr val="dk1"/>
              </a:solidFill>
            </a:endParaRPr>
          </a:p>
          <a:p>
            <a:pPr marL="914400" lvl="1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AR" sz="1800" b="1" dirty="0">
                <a:solidFill>
                  <a:schemeClr val="dk1"/>
                </a:solidFill>
              </a:rPr>
              <a:t>Derecho Internacional Público (Mercosur, OTAN, Comunidad Europea)</a:t>
            </a:r>
            <a:r>
              <a:rPr lang="es-AR" sz="1800" dirty="0">
                <a:solidFill>
                  <a:schemeClr val="dk1"/>
                </a:solidFill>
              </a:rPr>
              <a:t>.</a:t>
            </a:r>
            <a:endParaRPr sz="1800" dirty="0">
              <a:solidFill>
                <a:schemeClr val="dk1"/>
              </a:solidFill>
            </a:endParaRPr>
          </a:p>
          <a:p>
            <a:pPr marL="914400" lvl="1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AR" sz="1800" b="1" dirty="0">
                <a:solidFill>
                  <a:schemeClr val="dk1"/>
                </a:solidFill>
              </a:rPr>
              <a:t>Sociedad civil (surgimiento de grupos económicos transnacionales).</a:t>
            </a:r>
            <a:endParaRPr sz="1800" dirty="0">
              <a:solidFill>
                <a:schemeClr val="dk1"/>
              </a:solidFill>
            </a:endParaRPr>
          </a:p>
          <a:p>
            <a:pPr marL="914400" lvl="1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AR" sz="1800" b="1" dirty="0">
                <a:solidFill>
                  <a:schemeClr val="dk1"/>
                </a:solidFill>
              </a:rPr>
              <a:t>Significado actual de la “crisis":</a:t>
            </a:r>
            <a:r>
              <a:rPr lang="es-AR" sz="1800" dirty="0">
                <a:solidFill>
                  <a:schemeClr val="dk1"/>
                </a:solidFill>
              </a:rPr>
              <a:t> No se refiere necesariamente a la terminación del Estado, sino a la </a:t>
            </a:r>
            <a:r>
              <a:rPr lang="es-AR" sz="1800" b="1" dirty="0">
                <a:solidFill>
                  <a:schemeClr val="dk1"/>
                </a:solidFill>
              </a:rPr>
              <a:t>creciente complejidad e ingobernabilidad</a:t>
            </a:r>
            <a:r>
              <a:rPr lang="es-AR" sz="1800" dirty="0">
                <a:solidFill>
                  <a:schemeClr val="dk1"/>
                </a:solidFill>
              </a:rPr>
              <a:t> de las sociedades, o a la dificultad de reconducir el </a:t>
            </a:r>
            <a:r>
              <a:rPr lang="es-AR" sz="1800" b="1" dirty="0">
                <a:solidFill>
                  <a:schemeClr val="dk1"/>
                </a:solidFill>
              </a:rPr>
              <a:t>poder difuso</a:t>
            </a:r>
            <a:r>
              <a:rPr lang="es-AR" sz="1800" dirty="0">
                <a:solidFill>
                  <a:schemeClr val="dk1"/>
                </a:solidFill>
              </a:rPr>
              <a:t> a una unidad decisional. Para algunos, es la crisis de un tipo específico de Estado (democrático o capitalista), no de su existencia </a:t>
            </a:r>
            <a:r>
              <a:rPr lang="es-AR" sz="1800" i="1" dirty="0">
                <a:solidFill>
                  <a:schemeClr val="dk1"/>
                </a:solidFill>
              </a:rPr>
              <a:t>per se</a:t>
            </a:r>
            <a:r>
              <a:rPr lang="es-AR" sz="1800" dirty="0">
                <a:solidFill>
                  <a:schemeClr val="dk1"/>
                </a:solidFill>
              </a:rPr>
              <a:t>.</a:t>
            </a:r>
            <a:endParaRPr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2" descr="C:\Users\Idiomas\Downloads\Fadena-Negativo-FondoClaro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52150" y="4712689"/>
            <a:ext cx="2792623" cy="7819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2" descr="C:\Users\Idiomas\Downloads\Fadena-Negativo-FondoClaro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04550" y="4865089"/>
            <a:ext cx="2792623" cy="781936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2"/>
          <p:cNvSpPr/>
          <p:nvPr/>
        </p:nvSpPr>
        <p:spPr>
          <a:xfrm>
            <a:off x="136478" y="-204141"/>
            <a:ext cx="11588763" cy="6217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1800" b="1" dirty="0">
                <a:solidFill>
                  <a:schemeClr val="dk1"/>
                </a:solidFill>
              </a:rPr>
              <a:t>La Naturaleza del Estado I</a:t>
            </a:r>
            <a:endParaRPr sz="1800" b="1" dirty="0">
              <a:solidFill>
                <a:schemeClr val="dk1"/>
              </a:solidFill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AR" sz="1800" dirty="0">
                <a:solidFill>
                  <a:schemeClr val="dk1"/>
                </a:solidFill>
              </a:rPr>
              <a:t>El Estado es una </a:t>
            </a:r>
            <a:r>
              <a:rPr lang="es-AR" sz="1800" b="1" dirty="0">
                <a:solidFill>
                  <a:schemeClr val="dk1"/>
                </a:solidFill>
              </a:rPr>
              <a:t>creación cultural del ser humano</a:t>
            </a:r>
            <a:r>
              <a:rPr lang="es-AR" sz="1800" dirty="0">
                <a:solidFill>
                  <a:schemeClr val="dk1"/>
                </a:solidFill>
              </a:rPr>
              <a:t>, producto de la interacción </a:t>
            </a:r>
            <a:r>
              <a:rPr lang="es-AR" sz="1800" dirty="0" err="1">
                <a:solidFill>
                  <a:schemeClr val="dk1"/>
                </a:solidFill>
              </a:rPr>
              <a:t>inter-individual</a:t>
            </a:r>
            <a:r>
              <a:rPr lang="es-AR" sz="1800" dirty="0">
                <a:solidFill>
                  <a:schemeClr val="dk1"/>
                </a:solidFill>
              </a:rPr>
              <a:t>.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AR" sz="1800" b="1" dirty="0">
                <a:solidFill>
                  <a:schemeClr val="dk1"/>
                </a:solidFill>
              </a:rPr>
              <a:t>Teorías orgánicas:</a:t>
            </a:r>
            <a:endParaRPr sz="1800" dirty="0">
              <a:solidFill>
                <a:schemeClr val="dk1"/>
              </a:solidFill>
            </a:endParaRPr>
          </a:p>
          <a:p>
            <a:pPr marL="914400" lvl="1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AR" sz="1800" dirty="0">
                <a:solidFill>
                  <a:schemeClr val="dk1"/>
                </a:solidFill>
              </a:rPr>
              <a:t>Consideran al Estado como un </a:t>
            </a:r>
            <a:r>
              <a:rPr lang="es-AR" sz="1800" b="1" dirty="0">
                <a:solidFill>
                  <a:schemeClr val="dk1"/>
                </a:solidFill>
              </a:rPr>
              <a:t>organismo cuya formación es independiente de la voluntad individual</a:t>
            </a:r>
            <a:r>
              <a:rPr lang="es-AR" sz="1800" dirty="0">
                <a:solidFill>
                  <a:schemeClr val="dk1"/>
                </a:solidFill>
              </a:rPr>
              <a:t>.</a:t>
            </a:r>
            <a:endParaRPr sz="1800" dirty="0">
              <a:solidFill>
                <a:schemeClr val="dk1"/>
              </a:solidFill>
            </a:endParaRPr>
          </a:p>
          <a:p>
            <a:pPr marL="914400" lvl="1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AR" sz="1800" b="1" dirty="0">
                <a:solidFill>
                  <a:schemeClr val="dk1"/>
                </a:solidFill>
              </a:rPr>
              <a:t>Aristóteles </a:t>
            </a:r>
            <a:r>
              <a:rPr lang="es-AR" sz="1800" dirty="0">
                <a:solidFill>
                  <a:schemeClr val="dk1"/>
                </a:solidFill>
              </a:rPr>
              <a:t>afirma que el </a:t>
            </a:r>
            <a:r>
              <a:rPr lang="es-AR" sz="1800" b="1" dirty="0">
                <a:solidFill>
                  <a:schemeClr val="dk1"/>
                </a:solidFill>
              </a:rPr>
              <a:t>Estado es anterior a la familia y al individuo</a:t>
            </a:r>
            <a:r>
              <a:rPr lang="es-AR" sz="1800" dirty="0">
                <a:solidFill>
                  <a:schemeClr val="dk1"/>
                </a:solidFill>
              </a:rPr>
              <a:t>, y que es una </a:t>
            </a:r>
            <a:r>
              <a:rPr lang="es-AR" sz="1800" b="1" dirty="0">
                <a:solidFill>
                  <a:schemeClr val="dk1"/>
                </a:solidFill>
              </a:rPr>
              <a:t>realidad accidental, un "ser de relación"</a:t>
            </a:r>
            <a:r>
              <a:rPr lang="es-AR" sz="1800" dirty="0">
                <a:solidFill>
                  <a:schemeClr val="dk1"/>
                </a:solidFill>
              </a:rPr>
              <a:t> que necesita de los individuos para existir.</a:t>
            </a:r>
            <a:endParaRPr sz="1800" dirty="0">
              <a:solidFill>
                <a:schemeClr val="dk1"/>
              </a:solidFill>
            </a:endParaRPr>
          </a:p>
          <a:p>
            <a:pPr marL="914400" lvl="1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AR" sz="1800" b="1" dirty="0">
                <a:solidFill>
                  <a:schemeClr val="dk1"/>
                </a:solidFill>
              </a:rPr>
              <a:t>Santo Tomás  </a:t>
            </a:r>
            <a:r>
              <a:rPr lang="es-AR" sz="1800" dirty="0">
                <a:solidFill>
                  <a:schemeClr val="dk1"/>
                </a:solidFill>
              </a:rPr>
              <a:t>concibe al Estado como una </a:t>
            </a:r>
            <a:r>
              <a:rPr lang="es-AR" sz="1800" b="1" dirty="0">
                <a:solidFill>
                  <a:schemeClr val="dk1"/>
                </a:solidFill>
              </a:rPr>
              <a:t>entidad distinta de los individuos</a:t>
            </a:r>
            <a:r>
              <a:rPr lang="es-AR" sz="1800" dirty="0">
                <a:solidFill>
                  <a:schemeClr val="dk1"/>
                </a:solidFill>
              </a:rPr>
              <a:t> que los abarca y se superpone a ellos. Platón y Séneca también se alinean en esta tendencia.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AR" sz="1800" b="1" dirty="0">
                <a:solidFill>
                  <a:schemeClr val="dk1"/>
                </a:solidFill>
              </a:rPr>
              <a:t>Teorías mecánicas (contractualistas):</a:t>
            </a:r>
            <a:endParaRPr sz="1800" dirty="0">
              <a:solidFill>
                <a:schemeClr val="dk1"/>
              </a:solidFill>
            </a:endParaRPr>
          </a:p>
          <a:p>
            <a:pPr marL="914400" lvl="1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AR" sz="1800" dirty="0">
                <a:solidFill>
                  <a:schemeClr val="dk1"/>
                </a:solidFill>
              </a:rPr>
              <a:t>Ven a la sociedad como un agregado de individuos y al Estado como una </a:t>
            </a:r>
            <a:r>
              <a:rPr lang="es-AR" sz="1800" b="1" dirty="0">
                <a:solidFill>
                  <a:schemeClr val="dk1"/>
                </a:solidFill>
              </a:rPr>
              <a:t>creación de la voluntad humana, fundamentada en un contrato o pacto social</a:t>
            </a:r>
            <a:r>
              <a:rPr lang="es-AR" sz="1800" dirty="0">
                <a:solidFill>
                  <a:schemeClr val="dk1"/>
                </a:solidFill>
              </a:rPr>
              <a:t>. Se destaca la </a:t>
            </a:r>
            <a:r>
              <a:rPr lang="es-AR" sz="1800" b="1" dirty="0">
                <a:solidFill>
                  <a:schemeClr val="dk1"/>
                </a:solidFill>
              </a:rPr>
              <a:t>naturaleza artificial</a:t>
            </a:r>
            <a:r>
              <a:rPr lang="es-AR" sz="1800" dirty="0">
                <a:solidFill>
                  <a:schemeClr val="dk1"/>
                </a:solidFill>
              </a:rPr>
              <a:t> del Estado. Exponentes: Protágoras, Cicerón, Descartes, </a:t>
            </a:r>
            <a:r>
              <a:rPr lang="es-AR" sz="1800" b="1" dirty="0">
                <a:solidFill>
                  <a:schemeClr val="dk1"/>
                </a:solidFill>
              </a:rPr>
              <a:t>Hobbes</a:t>
            </a:r>
            <a:r>
              <a:rPr lang="es-AR" sz="1800" dirty="0">
                <a:solidFill>
                  <a:schemeClr val="dk1"/>
                </a:solidFill>
              </a:rPr>
              <a:t> (Estado como creación artificial), </a:t>
            </a:r>
            <a:r>
              <a:rPr lang="es-AR" sz="1800" b="1" dirty="0">
                <a:solidFill>
                  <a:schemeClr val="dk1"/>
                </a:solidFill>
              </a:rPr>
              <a:t>Locke</a:t>
            </a:r>
            <a:r>
              <a:rPr lang="es-AR" sz="1800" dirty="0">
                <a:solidFill>
                  <a:schemeClr val="dk1"/>
                </a:solidFill>
              </a:rPr>
              <a:t> (pacto social creador del Estado) y </a:t>
            </a:r>
            <a:r>
              <a:rPr lang="es-AR" sz="1800" b="1" dirty="0">
                <a:solidFill>
                  <a:schemeClr val="dk1"/>
                </a:solidFill>
              </a:rPr>
              <a:t>Rousseau</a:t>
            </a:r>
            <a:r>
              <a:rPr lang="es-AR" sz="1800" dirty="0">
                <a:solidFill>
                  <a:schemeClr val="dk1"/>
                </a:solidFill>
              </a:rPr>
              <a:t> (el contrato social como punto fundante).</a:t>
            </a:r>
            <a:endParaRPr sz="1800" dirty="0">
              <a:solidFill>
                <a:srgbClr val="3A3838"/>
              </a:solidFill>
            </a:endParaRPr>
          </a:p>
        </p:txBody>
      </p:sp>
      <p:pic>
        <p:nvPicPr>
          <p:cNvPr id="114" name="Google Shape;114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71692" y="5933555"/>
            <a:ext cx="2053549" cy="585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3" descr="C:\Users\Idiomas\Downloads\Fadena-Negativo-FondoClaro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52150" y="4712689"/>
            <a:ext cx="2792623" cy="7819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3" descr="C:\Users\Idiomas\Downloads\Fadena-Negativo-FondoClaro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04550" y="4865089"/>
            <a:ext cx="2792623" cy="78193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3"/>
          <p:cNvSpPr/>
          <p:nvPr/>
        </p:nvSpPr>
        <p:spPr>
          <a:xfrm>
            <a:off x="815854" y="770566"/>
            <a:ext cx="913930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71692" y="5933555"/>
            <a:ext cx="2053549" cy="585788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3"/>
          <p:cNvSpPr txBox="1"/>
          <p:nvPr/>
        </p:nvSpPr>
        <p:spPr>
          <a:xfrm>
            <a:off x="286602" y="411637"/>
            <a:ext cx="11573301" cy="5740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 b="1" dirty="0">
                <a:solidFill>
                  <a:schemeClr val="dk1"/>
                </a:solidFill>
              </a:rPr>
              <a:t>La naturaleza del Estado II</a:t>
            </a:r>
            <a:endParaRPr sz="1800" b="1" dirty="0">
              <a:solidFill>
                <a:schemeClr val="dk1"/>
              </a:solidFill>
            </a:endParaRPr>
          </a:p>
          <a:p>
            <a:pPr marL="4572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1"/>
              </a:solidFill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AR" sz="1800" b="1" dirty="0">
                <a:solidFill>
                  <a:schemeClr val="dk1"/>
                </a:solidFill>
              </a:rPr>
              <a:t>Teorías intermedias:</a:t>
            </a:r>
            <a:endParaRPr sz="1800" dirty="0">
              <a:solidFill>
                <a:schemeClr val="dk1"/>
              </a:solidFill>
            </a:endParaRPr>
          </a:p>
          <a:p>
            <a:pPr marL="914400" lvl="1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AR" sz="1800" b="1" dirty="0" err="1">
                <a:solidFill>
                  <a:schemeClr val="dk1"/>
                </a:solidFill>
              </a:rPr>
              <a:t>Fouillée</a:t>
            </a:r>
            <a:r>
              <a:rPr lang="es-AR" sz="1800" b="1" dirty="0">
                <a:solidFill>
                  <a:schemeClr val="dk1"/>
                </a:solidFill>
              </a:rPr>
              <a:t> (organicismo contractual):</a:t>
            </a:r>
            <a:r>
              <a:rPr lang="es-AR" sz="1800" dirty="0">
                <a:solidFill>
                  <a:schemeClr val="dk1"/>
                </a:solidFill>
              </a:rPr>
              <a:t> La sociedad nace espontáneamente, pero la conciencia humana la convierte en un organismo artificial, formado y controlado por los hombres.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AR" sz="1800" b="1" dirty="0">
                <a:solidFill>
                  <a:schemeClr val="dk1"/>
                </a:solidFill>
              </a:rPr>
              <a:t>El Estado como creación lógico-normativa (Hans Kelsen):</a:t>
            </a:r>
            <a:endParaRPr sz="1800" dirty="0">
              <a:solidFill>
                <a:schemeClr val="dk1"/>
              </a:solidFill>
            </a:endParaRPr>
          </a:p>
          <a:p>
            <a:pPr marL="914400" lvl="1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AR" sz="1800" dirty="0">
                <a:solidFill>
                  <a:schemeClr val="dk1"/>
                </a:solidFill>
              </a:rPr>
              <a:t>La Escuela de Viena (Kelsen) concibe al Estado como la </a:t>
            </a:r>
            <a:r>
              <a:rPr lang="es-AR" sz="1800" b="1" dirty="0">
                <a:solidFill>
                  <a:schemeClr val="dk1"/>
                </a:solidFill>
              </a:rPr>
              <a:t>"personificación del orden jurídico total"</a:t>
            </a:r>
            <a:r>
              <a:rPr lang="es-AR" sz="1800" dirty="0">
                <a:solidFill>
                  <a:schemeClr val="dk1"/>
                </a:solidFill>
              </a:rPr>
              <a:t>, equivalente al Derecho, depurado de elementos sociológicos o políticos. Para Kelsen, </a:t>
            </a:r>
            <a:r>
              <a:rPr lang="es-AR" sz="1800" b="1" dirty="0">
                <a:solidFill>
                  <a:schemeClr val="dk1"/>
                </a:solidFill>
              </a:rPr>
              <a:t>todo Estado es un estado de derecho</a:t>
            </a:r>
            <a:r>
              <a:rPr lang="es-AR" sz="1800" dirty="0">
                <a:solidFill>
                  <a:schemeClr val="dk1"/>
                </a:solidFill>
              </a:rPr>
              <a:t>.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AR" sz="1800" b="1" dirty="0">
                <a:solidFill>
                  <a:schemeClr val="dk1"/>
                </a:solidFill>
              </a:rPr>
              <a:t>Doctrina de la personalidad moral (</a:t>
            </a:r>
            <a:r>
              <a:rPr lang="es-AR" sz="1800" b="1" dirty="0" err="1">
                <a:solidFill>
                  <a:schemeClr val="dk1"/>
                </a:solidFill>
              </a:rPr>
              <a:t>Dabin</a:t>
            </a:r>
            <a:r>
              <a:rPr lang="es-AR" sz="1800" b="1" dirty="0">
                <a:solidFill>
                  <a:schemeClr val="dk1"/>
                </a:solidFill>
              </a:rPr>
              <a:t>):</a:t>
            </a:r>
            <a:endParaRPr sz="1800" dirty="0">
              <a:solidFill>
                <a:schemeClr val="dk1"/>
              </a:solidFill>
            </a:endParaRPr>
          </a:p>
          <a:p>
            <a:pPr marL="914400" lvl="1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AR" sz="1800" dirty="0">
                <a:solidFill>
                  <a:schemeClr val="dk1"/>
                </a:solidFill>
              </a:rPr>
              <a:t>El Estado es una </a:t>
            </a:r>
            <a:r>
              <a:rPr lang="es-AR" sz="1800" b="1" dirty="0">
                <a:solidFill>
                  <a:schemeClr val="dk1"/>
                </a:solidFill>
              </a:rPr>
              <a:t>persona moral o colectiva</a:t>
            </a:r>
            <a:r>
              <a:rPr lang="es-AR" sz="1800" dirty="0">
                <a:solidFill>
                  <a:schemeClr val="dk1"/>
                </a:solidFill>
              </a:rPr>
              <a:t>, una realidad social subyacente, distinta de la suma de sus integrantes, justificada por la idea de </a:t>
            </a:r>
            <a:r>
              <a:rPr lang="es-AR" sz="1800" b="1" dirty="0">
                <a:solidFill>
                  <a:schemeClr val="dk1"/>
                </a:solidFill>
              </a:rPr>
              <a:t>bien público</a:t>
            </a:r>
            <a:r>
              <a:rPr lang="es-AR" sz="1800" dirty="0">
                <a:solidFill>
                  <a:schemeClr val="dk1"/>
                </a:solidFill>
              </a:rPr>
              <a:t>.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0" algn="just" rtl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4" descr="C:\Users\Idiomas\Downloads\Fadena-Negativo-FondoClaro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52150" y="4712689"/>
            <a:ext cx="2792623" cy="7819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4" descr="C:\Users\Idiomas\Downloads\Fadena-Negativo-FondoClaro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04550" y="4865089"/>
            <a:ext cx="2792623" cy="7819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71692" y="5933555"/>
            <a:ext cx="2053549" cy="585788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4"/>
          <p:cNvSpPr txBox="1"/>
          <p:nvPr/>
        </p:nvSpPr>
        <p:spPr>
          <a:xfrm>
            <a:off x="431271" y="536033"/>
            <a:ext cx="11329457" cy="5324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1"/>
              </a:solidFill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AR" sz="1800" b="1" dirty="0">
                <a:solidFill>
                  <a:schemeClr val="dk1"/>
                </a:solidFill>
              </a:rPr>
              <a:t>Otras teorías de la naturaleza del Estado (Estado confundido con sus elementos):</a:t>
            </a:r>
            <a:endParaRPr sz="1800" b="1" dirty="0">
              <a:solidFill>
                <a:schemeClr val="dk1"/>
              </a:solidFill>
            </a:endParaRPr>
          </a:p>
          <a:p>
            <a:pPr marL="4572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1"/>
              </a:solidFill>
            </a:endParaRPr>
          </a:p>
          <a:p>
            <a:pPr marL="914400" lvl="1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AR" sz="1800" dirty="0">
                <a:solidFill>
                  <a:schemeClr val="dk1"/>
                </a:solidFill>
              </a:rPr>
              <a:t>Algunas doctrinas identifican el Estado con el </a:t>
            </a:r>
            <a:r>
              <a:rPr lang="es-AR" sz="1800" b="1" dirty="0">
                <a:solidFill>
                  <a:schemeClr val="dk1"/>
                </a:solidFill>
              </a:rPr>
              <a:t>pueblo</a:t>
            </a:r>
            <a:r>
              <a:rPr lang="es-AR" sz="1800" dirty="0">
                <a:solidFill>
                  <a:schemeClr val="dk1"/>
                </a:solidFill>
              </a:rPr>
              <a:t> (concepción romana, nacionalsocialismo).</a:t>
            </a:r>
            <a:endParaRPr sz="1800" dirty="0">
              <a:solidFill>
                <a:schemeClr val="dk1"/>
              </a:solidFill>
            </a:endParaRPr>
          </a:p>
          <a:p>
            <a:pPr marL="914400" lvl="1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AR" sz="1800" dirty="0">
                <a:solidFill>
                  <a:schemeClr val="dk1"/>
                </a:solidFill>
              </a:rPr>
              <a:t>Otras con el </a:t>
            </a:r>
            <a:r>
              <a:rPr lang="es-AR" sz="1800" b="1" dirty="0">
                <a:solidFill>
                  <a:schemeClr val="dk1"/>
                </a:solidFill>
              </a:rPr>
              <a:t>gobierno</a:t>
            </a:r>
            <a:r>
              <a:rPr lang="es-AR" sz="1800" dirty="0">
                <a:solidFill>
                  <a:schemeClr val="dk1"/>
                </a:solidFill>
              </a:rPr>
              <a:t> (absolutismo monárquico de Luis XIV: "el Estado soy yo").</a:t>
            </a:r>
            <a:endParaRPr sz="1800" dirty="0">
              <a:solidFill>
                <a:schemeClr val="dk1"/>
              </a:solidFill>
            </a:endParaRPr>
          </a:p>
          <a:p>
            <a:pPr marL="914400" lvl="1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AR" sz="1800" dirty="0">
                <a:solidFill>
                  <a:schemeClr val="dk1"/>
                </a:solidFill>
              </a:rPr>
              <a:t>Otras con el </a:t>
            </a:r>
            <a:r>
              <a:rPr lang="es-AR" sz="1800" b="1" dirty="0">
                <a:solidFill>
                  <a:schemeClr val="dk1"/>
                </a:solidFill>
              </a:rPr>
              <a:t>territorio</a:t>
            </a:r>
            <a:r>
              <a:rPr lang="es-AR" sz="1800" dirty="0">
                <a:solidFill>
                  <a:schemeClr val="dk1"/>
                </a:solidFill>
              </a:rPr>
              <a:t> (teoría patrimonial de la Edad Media).</a:t>
            </a:r>
            <a:endParaRPr sz="1800" dirty="0">
              <a:solidFill>
                <a:schemeClr val="dk1"/>
              </a:solidFill>
            </a:endParaRPr>
          </a:p>
          <a:p>
            <a:pPr marL="914400" lvl="1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AR" sz="1800" dirty="0">
                <a:solidFill>
                  <a:schemeClr val="dk1"/>
                </a:solidFill>
              </a:rPr>
              <a:t>Y otras con el </a:t>
            </a:r>
            <a:r>
              <a:rPr lang="es-AR" sz="1800" b="1" dirty="0">
                <a:solidFill>
                  <a:schemeClr val="dk1"/>
                </a:solidFill>
              </a:rPr>
              <a:t>poder</a:t>
            </a:r>
            <a:r>
              <a:rPr lang="es-AR" sz="1800" dirty="0">
                <a:solidFill>
                  <a:schemeClr val="dk1"/>
                </a:solidFill>
              </a:rPr>
              <a:t> (Jouvenel: el Estado como institucionalidad del poder).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AR" sz="1800" b="1" dirty="0">
                <a:solidFill>
                  <a:schemeClr val="dk1"/>
                </a:solidFill>
              </a:rPr>
              <a:t>El Estado identificado con la Nación:</a:t>
            </a:r>
            <a:r>
              <a:rPr lang="es-AR" sz="1800" dirty="0">
                <a:solidFill>
                  <a:schemeClr val="dk1"/>
                </a:solidFill>
              </a:rPr>
              <a:t> La personería del Estado surge de la identidad entre nación y Estado, siendo la nación el elemento constitutivo por excelencia del Estado.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●"/>
            </a:pPr>
            <a:r>
              <a:rPr lang="es-AR" sz="1800" b="1" dirty="0">
                <a:solidFill>
                  <a:schemeClr val="dk1"/>
                </a:solidFill>
              </a:rPr>
              <a:t>El Estado como instrumento de opresión:</a:t>
            </a:r>
            <a:r>
              <a:rPr lang="es-AR" sz="1800" dirty="0">
                <a:solidFill>
                  <a:schemeClr val="dk1"/>
                </a:solidFill>
              </a:rPr>
              <a:t> Posturas como la marxista (Engels, Lenin) y Duguit sostienen que el Estado es un instrumento de dominación de una minoría (la burguesía) sobre la mayoría (el proletariado).</a:t>
            </a:r>
            <a:endParaRPr sz="18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5" descr="C:\Users\Idiomas\Downloads\Fadena-Negativo-FondoClaro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52150" y="4712689"/>
            <a:ext cx="2792623" cy="7819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5" descr="C:\Users\Idiomas\Downloads\Fadena-Negativo-FondoClaro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04550" y="4865089"/>
            <a:ext cx="2792623" cy="7819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71692" y="5933555"/>
            <a:ext cx="2053549" cy="585788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5"/>
          <p:cNvSpPr txBox="1"/>
          <p:nvPr/>
        </p:nvSpPr>
        <p:spPr>
          <a:xfrm>
            <a:off x="272954" y="696036"/>
            <a:ext cx="11452287" cy="57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AR" sz="1800" b="1" dirty="0">
                <a:solidFill>
                  <a:schemeClr val="dk1"/>
                </a:solidFill>
              </a:rPr>
              <a:t>Teorías </a:t>
            </a:r>
            <a:r>
              <a:rPr lang="es-AR" sz="1800" b="1" dirty="0" err="1">
                <a:solidFill>
                  <a:schemeClr val="dk1"/>
                </a:solidFill>
              </a:rPr>
              <a:t>justificatorias</a:t>
            </a:r>
            <a:r>
              <a:rPr lang="es-AR" sz="1800" b="1" dirty="0">
                <a:solidFill>
                  <a:schemeClr val="dk1"/>
                </a:solidFill>
              </a:rPr>
              <a:t> del Estado </a:t>
            </a:r>
            <a:endParaRPr sz="1800" b="1" dirty="0">
              <a:solidFill>
                <a:schemeClr val="dk1"/>
              </a:solidFill>
            </a:endParaRPr>
          </a:p>
          <a:p>
            <a:pPr marL="114300" lvl="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s-AR" sz="1800" dirty="0">
                <a:solidFill>
                  <a:schemeClr val="dk1"/>
                </a:solidFill>
              </a:rPr>
              <a:t>Estas teorías abordan el fundamental interrogante de </a:t>
            </a:r>
            <a:r>
              <a:rPr lang="es-AR" sz="1800" b="1" dirty="0">
                <a:solidFill>
                  <a:schemeClr val="dk1"/>
                </a:solidFill>
              </a:rPr>
              <a:t>"por qué existe el Estado"</a:t>
            </a:r>
            <a:r>
              <a:rPr lang="es-AR" sz="1800" dirty="0">
                <a:solidFill>
                  <a:schemeClr val="dk1"/>
                </a:solidFill>
              </a:rPr>
              <a:t>, su causa eficiente y su legitimidad.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AR" sz="1800" b="1" dirty="0">
                <a:solidFill>
                  <a:schemeClr val="dk1"/>
                </a:solidFill>
              </a:rPr>
              <a:t>Teorías de la fuerza:</a:t>
            </a:r>
            <a:endParaRPr sz="1800" dirty="0">
              <a:solidFill>
                <a:schemeClr val="dk1"/>
              </a:solidFill>
            </a:endParaRPr>
          </a:p>
          <a:p>
            <a:pPr marL="914400" lvl="1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AR" sz="1800" dirty="0">
                <a:solidFill>
                  <a:schemeClr val="dk1"/>
                </a:solidFill>
              </a:rPr>
              <a:t>Ven al Estado como </a:t>
            </a:r>
            <a:r>
              <a:rPr lang="es-AR" sz="1800" b="1" dirty="0">
                <a:solidFill>
                  <a:schemeClr val="dk1"/>
                </a:solidFill>
              </a:rPr>
              <a:t>dominación, fuerza o coacción</a:t>
            </a:r>
            <a:r>
              <a:rPr lang="es-AR" sz="1800" dirty="0">
                <a:solidFill>
                  <a:schemeClr val="dk1"/>
                </a:solidFill>
              </a:rPr>
              <a:t> de los gobernantes sobre los gobernados, justificándose únicamente en la fuerza.</a:t>
            </a:r>
            <a:endParaRPr sz="1800" dirty="0">
              <a:solidFill>
                <a:schemeClr val="dk1"/>
              </a:solidFill>
            </a:endParaRPr>
          </a:p>
          <a:p>
            <a:pPr marL="914400" lvl="1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AR" sz="1800" dirty="0">
                <a:solidFill>
                  <a:schemeClr val="dk1"/>
                </a:solidFill>
              </a:rPr>
              <a:t>Los fuertes se imponen sobre los débiles, y esto sería la causa de su legitimidad.</a:t>
            </a:r>
            <a:endParaRPr sz="1800" dirty="0">
              <a:solidFill>
                <a:schemeClr val="dk1"/>
              </a:solidFill>
            </a:endParaRPr>
          </a:p>
          <a:p>
            <a:pPr marL="914400" lvl="1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AR" sz="1800" dirty="0">
                <a:solidFill>
                  <a:schemeClr val="dk1"/>
                </a:solidFill>
              </a:rPr>
              <a:t>Duguit y el marxismo apoyan esta posición, considerando al Estado un instrumento opresivo.</a:t>
            </a:r>
            <a:endParaRPr sz="1800" dirty="0">
              <a:solidFill>
                <a:schemeClr val="dk1"/>
              </a:solidFill>
            </a:endParaRPr>
          </a:p>
          <a:p>
            <a:pPr marL="914400" lvl="1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AR" sz="1800" b="1" dirty="0">
                <a:solidFill>
                  <a:schemeClr val="dk1"/>
                </a:solidFill>
              </a:rPr>
              <a:t>Crítica:</a:t>
            </a:r>
            <a:r>
              <a:rPr lang="es-AR" sz="1800" dirty="0">
                <a:solidFill>
                  <a:schemeClr val="dk1"/>
                </a:solidFill>
              </a:rPr>
              <a:t> Si el Estado es solo fuerza bruta, carece de fundamentación jurídica o ética, lo que lo hace inestable y vulnerable.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6" descr="C:\Users\Idiomas\Downloads\Fadena-Negativo-FondoClaro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52150" y="4712689"/>
            <a:ext cx="2792623" cy="7819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6" descr="C:\Users\Idiomas\Downloads\Fadena-Negativo-FondoClaro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04550" y="4865089"/>
            <a:ext cx="2792623" cy="781936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6"/>
          <p:cNvSpPr/>
          <p:nvPr/>
        </p:nvSpPr>
        <p:spPr>
          <a:xfrm>
            <a:off x="0" y="710595"/>
            <a:ext cx="11586949" cy="5550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AR" sz="1800" b="1" dirty="0">
                <a:solidFill>
                  <a:schemeClr val="dk1"/>
                </a:solidFill>
              </a:rPr>
              <a:t>Teorías Jurídicas:</a:t>
            </a:r>
            <a:r>
              <a:rPr lang="es-AR" sz="1800" dirty="0">
                <a:solidFill>
                  <a:schemeClr val="dk1"/>
                </a:solidFill>
              </a:rPr>
              <a:t> Justifican al Estado a través del Derecho.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  <a:p>
            <a:pPr marL="571500" lvl="1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s-AR" sz="1800" b="1" dirty="0">
                <a:solidFill>
                  <a:schemeClr val="dk1"/>
                </a:solidFill>
              </a:rPr>
              <a:t>i) El Estado como resultado de un contrato social (Hobbes, Locke, Rousseau):</a:t>
            </a:r>
            <a:endParaRPr sz="1800" dirty="0">
              <a:solidFill>
                <a:schemeClr val="dk1"/>
              </a:solidFill>
            </a:endParaRPr>
          </a:p>
          <a:p>
            <a:pPr marL="1371600" lvl="2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</a:pPr>
            <a:r>
              <a:rPr lang="es-AR" sz="1800" dirty="0">
                <a:solidFill>
                  <a:schemeClr val="dk1"/>
                </a:solidFill>
              </a:rPr>
              <a:t>Afirman que los seres humanos crean el Estado de manera </a:t>
            </a:r>
            <a:r>
              <a:rPr lang="es-AR" sz="1800" b="1" dirty="0">
                <a:solidFill>
                  <a:schemeClr val="dk1"/>
                </a:solidFill>
              </a:rPr>
              <a:t>libre y espontánea</a:t>
            </a:r>
            <a:r>
              <a:rPr lang="es-AR" sz="1800" dirty="0">
                <a:solidFill>
                  <a:schemeClr val="dk1"/>
                </a:solidFill>
              </a:rPr>
              <a:t> mediante un pacto político.</a:t>
            </a:r>
            <a:endParaRPr sz="1800" dirty="0">
              <a:solidFill>
                <a:schemeClr val="dk1"/>
              </a:solidFill>
            </a:endParaRPr>
          </a:p>
          <a:p>
            <a:pPr marL="1371600" lvl="2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</a:pPr>
            <a:r>
              <a:rPr lang="es-AR" sz="1800" b="1" dirty="0">
                <a:solidFill>
                  <a:schemeClr val="dk1"/>
                </a:solidFill>
              </a:rPr>
              <a:t>Hobbes:</a:t>
            </a:r>
            <a:r>
              <a:rPr lang="es-AR" sz="1800" dirty="0">
                <a:solidFill>
                  <a:schemeClr val="dk1"/>
                </a:solidFill>
              </a:rPr>
              <a:t> El hombre es antisocial y, por egoísmo, entrega su poder a un gobernante absoluto (Leviatán) para evitar la guerra de todos contra todos. El contrato es una ficción racional.</a:t>
            </a:r>
            <a:endParaRPr sz="1800" dirty="0">
              <a:solidFill>
                <a:schemeClr val="dk1"/>
              </a:solidFill>
            </a:endParaRPr>
          </a:p>
          <a:p>
            <a:pPr marL="1371600" lvl="2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</a:pPr>
            <a:r>
              <a:rPr lang="es-AR" sz="1800" b="1" dirty="0">
                <a:solidFill>
                  <a:schemeClr val="dk1"/>
                </a:solidFill>
              </a:rPr>
              <a:t>Locke:</a:t>
            </a:r>
            <a:r>
              <a:rPr lang="es-AR" sz="1800" dirty="0">
                <a:solidFill>
                  <a:schemeClr val="dk1"/>
                </a:solidFill>
              </a:rPr>
              <a:t> El pacto social es un </a:t>
            </a:r>
            <a:r>
              <a:rPr lang="es-AR" sz="1800" b="1" dirty="0">
                <a:solidFill>
                  <a:schemeClr val="dk1"/>
                </a:solidFill>
              </a:rPr>
              <a:t>hecho histórico</a:t>
            </a:r>
            <a:r>
              <a:rPr lang="es-AR" sz="1800" dirty="0">
                <a:solidFill>
                  <a:schemeClr val="dk1"/>
                </a:solidFill>
              </a:rPr>
              <a:t> por el cual los individuos renuncian a su libertad natural y la depositan en la sociedad, por consentimiento.</a:t>
            </a:r>
            <a:endParaRPr sz="1800" dirty="0">
              <a:solidFill>
                <a:schemeClr val="dk1"/>
              </a:solidFill>
            </a:endParaRPr>
          </a:p>
          <a:p>
            <a:pPr marL="1371600" lvl="2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</a:pPr>
            <a:r>
              <a:rPr lang="es-AR" sz="1800" b="1" dirty="0">
                <a:solidFill>
                  <a:schemeClr val="dk1"/>
                </a:solidFill>
              </a:rPr>
              <a:t>Rousseau:</a:t>
            </a:r>
            <a:r>
              <a:rPr lang="es-AR" sz="1800" dirty="0">
                <a:solidFill>
                  <a:schemeClr val="dk1"/>
                </a:solidFill>
              </a:rPr>
              <a:t> El contrato social es una </a:t>
            </a:r>
            <a:r>
              <a:rPr lang="es-AR" sz="1800" b="1" dirty="0">
                <a:solidFill>
                  <a:schemeClr val="dk1"/>
                </a:solidFill>
              </a:rPr>
              <a:t>suposición racional</a:t>
            </a:r>
            <a:r>
              <a:rPr lang="es-AR" sz="1800" dirty="0">
                <a:solidFill>
                  <a:schemeClr val="dk1"/>
                </a:solidFill>
              </a:rPr>
              <a:t> o construcción lógica para justificar el Estado y la legitimación de su poder; no un hecho histórico. Todos se someten a la "voluntad general". Se lo critica por no garantizar derechos a las minorías.</a:t>
            </a:r>
            <a:endParaRPr sz="1800" dirty="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  <p:pic>
        <p:nvPicPr>
          <p:cNvPr id="151" name="Google Shape;151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71692" y="5933555"/>
            <a:ext cx="2053549" cy="585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7" descr="C:\Users\Idiomas\Downloads\Fadena-Negativo-FondoClaro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52150" y="4712689"/>
            <a:ext cx="2792623" cy="7819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7" descr="C:\Users\Idiomas\Downloads\Fadena-Negativo-FondoClaro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04550" y="4865089"/>
            <a:ext cx="2792623" cy="781936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7"/>
          <p:cNvSpPr/>
          <p:nvPr/>
        </p:nvSpPr>
        <p:spPr>
          <a:xfrm>
            <a:off x="0" y="338657"/>
            <a:ext cx="11465934" cy="5909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 b="1" dirty="0" err="1">
                <a:solidFill>
                  <a:schemeClr val="dk1"/>
                </a:solidFill>
              </a:rPr>
              <a:t>ii</a:t>
            </a:r>
            <a:r>
              <a:rPr lang="es-AR" sz="1800" b="1" dirty="0">
                <a:solidFill>
                  <a:schemeClr val="dk1"/>
                </a:solidFill>
              </a:rPr>
              <a:t>) La Teoría del consentimiento (Francisco de Vitoria y Francisco Suárez - Escuela Teológica Española):</a:t>
            </a:r>
            <a:endParaRPr sz="1800" b="1" dirty="0">
              <a:solidFill>
                <a:schemeClr val="dk1"/>
              </a:solidFill>
            </a:endParaRPr>
          </a:p>
          <a:p>
            <a:pPr marL="9144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1"/>
              </a:solidFill>
            </a:endParaRPr>
          </a:p>
          <a:p>
            <a:pPr marL="1371600" lvl="2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</a:pPr>
            <a:r>
              <a:rPr lang="es-AR" sz="1800" dirty="0">
                <a:solidFill>
                  <a:schemeClr val="dk1"/>
                </a:solidFill>
              </a:rPr>
              <a:t>El Estado nace de un </a:t>
            </a:r>
            <a:r>
              <a:rPr lang="es-AR" sz="1800" b="1" dirty="0">
                <a:solidFill>
                  <a:schemeClr val="dk1"/>
                </a:solidFill>
              </a:rPr>
              <a:t>contrato social</a:t>
            </a:r>
            <a:r>
              <a:rPr lang="es-AR" sz="1800" dirty="0">
                <a:solidFill>
                  <a:schemeClr val="dk1"/>
                </a:solidFill>
              </a:rPr>
              <a:t>, al que Suárez añade un segundo pacto de "sujeción" para determinar el gobierno civil.</a:t>
            </a:r>
            <a:endParaRPr sz="1800" dirty="0">
              <a:solidFill>
                <a:schemeClr val="dk1"/>
              </a:solidFill>
            </a:endParaRPr>
          </a:p>
          <a:p>
            <a:pPr marL="1371600" lvl="2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</a:pPr>
            <a:r>
              <a:rPr lang="es-AR" sz="1800" dirty="0">
                <a:solidFill>
                  <a:schemeClr val="dk1"/>
                </a:solidFill>
              </a:rPr>
              <a:t>Dios es el origen mediato y la naturaleza humana el origen inmediato del Estado. El </a:t>
            </a:r>
            <a:r>
              <a:rPr lang="es-AR" sz="1800" b="1" dirty="0">
                <a:solidFill>
                  <a:schemeClr val="dk1"/>
                </a:solidFill>
              </a:rPr>
              <a:t>origen histórico surge del consentimiento de los hombres</a:t>
            </a:r>
            <a:r>
              <a:rPr lang="es-AR" sz="1800" dirty="0">
                <a:solidFill>
                  <a:schemeClr val="dk1"/>
                </a:solidFill>
              </a:rPr>
              <a:t>.</a:t>
            </a:r>
            <a:endParaRPr sz="1800" dirty="0">
              <a:solidFill>
                <a:schemeClr val="dk1"/>
              </a:solidFill>
            </a:endParaRPr>
          </a:p>
          <a:p>
            <a:pPr marL="1371600" lvl="2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</a:pPr>
            <a:r>
              <a:rPr lang="es-AR" sz="1800" dirty="0">
                <a:solidFill>
                  <a:schemeClr val="dk1"/>
                </a:solidFill>
              </a:rPr>
              <a:t>El consentimiento puede ser expreso, debido o tácito.</a:t>
            </a:r>
          </a:p>
          <a:p>
            <a:pPr marL="1028700" lvl="2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endParaRPr sz="1800" dirty="0">
              <a:solidFill>
                <a:schemeClr val="dk1"/>
              </a:solidFill>
            </a:endParaRPr>
          </a:p>
          <a:p>
            <a:pPr marL="9144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 b="1" dirty="0" err="1">
                <a:solidFill>
                  <a:schemeClr val="dk1"/>
                </a:solidFill>
              </a:rPr>
              <a:t>iii</a:t>
            </a:r>
            <a:r>
              <a:rPr lang="es-AR" sz="1800" b="1" dirty="0">
                <a:solidFill>
                  <a:schemeClr val="dk1"/>
                </a:solidFill>
              </a:rPr>
              <a:t>) Versiones contemporáneas del contractualismo (John Rawls):</a:t>
            </a:r>
            <a:endParaRPr sz="1800" dirty="0">
              <a:solidFill>
                <a:schemeClr val="dk1"/>
              </a:solidFill>
            </a:endParaRPr>
          </a:p>
          <a:p>
            <a:pPr marL="1371600" lvl="2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</a:pPr>
            <a:r>
              <a:rPr lang="es-AR" sz="1800" dirty="0">
                <a:solidFill>
                  <a:schemeClr val="dk1"/>
                </a:solidFill>
              </a:rPr>
              <a:t>Rawls, en "Una teoría sobre la justicia", propone una "posición originaria" bajo un "velo de ignorancia“, donde individuos racionales eligen principios de justicia para una sociedad de iguales. Lo concibe como una </a:t>
            </a:r>
            <a:r>
              <a:rPr lang="es-AR" sz="1800" b="1" dirty="0">
                <a:solidFill>
                  <a:schemeClr val="dk1"/>
                </a:solidFill>
              </a:rPr>
              <a:t>hipótesis de razonamiento</a:t>
            </a:r>
            <a:r>
              <a:rPr lang="es-AR" sz="1800" dirty="0">
                <a:solidFill>
                  <a:schemeClr val="dk1"/>
                </a:solidFill>
              </a:rPr>
              <a:t> para un sistema social justo, no como un hecho histórico.</a:t>
            </a:r>
            <a:endParaRPr sz="1800" dirty="0">
              <a:solidFill>
                <a:schemeClr val="dk1"/>
              </a:solidFill>
            </a:endParaRPr>
          </a:p>
        </p:txBody>
      </p:sp>
      <p:pic>
        <p:nvPicPr>
          <p:cNvPr id="160" name="Google Shape;160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71692" y="5933555"/>
            <a:ext cx="2053549" cy="585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8" descr="C:\Users\Idiomas\Downloads\Fadena-Negativo-FondoClaro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52150" y="4712689"/>
            <a:ext cx="2792623" cy="7819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8" descr="C:\Users\Idiomas\Downloads\Fadena-Negativo-FondoClaro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04550" y="4865089"/>
            <a:ext cx="2792623" cy="781936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8"/>
          <p:cNvSpPr/>
          <p:nvPr/>
        </p:nvSpPr>
        <p:spPr>
          <a:xfrm>
            <a:off x="801106" y="446103"/>
            <a:ext cx="913930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8"/>
          <p:cNvSpPr/>
          <p:nvPr/>
        </p:nvSpPr>
        <p:spPr>
          <a:xfrm>
            <a:off x="898650" y="1666335"/>
            <a:ext cx="10394700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 b="1" dirty="0">
                <a:solidFill>
                  <a:schemeClr val="dk1"/>
                </a:solidFill>
              </a:rPr>
              <a:t>El problema de la legitimidad:</a:t>
            </a:r>
            <a:r>
              <a:rPr lang="es-AR" sz="1800" dirty="0">
                <a:solidFill>
                  <a:schemeClr val="dk1"/>
                </a:solidFill>
              </a:rPr>
              <a:t> El poder político no puede basarse únicamente en la fuerza; necesita una justificación ética o jurídica para ser aceptado y generar obediencia.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AR" sz="1800" b="1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 b="1" dirty="0">
                <a:solidFill>
                  <a:schemeClr val="dk1"/>
                </a:solidFill>
              </a:rPr>
              <a:t>Gaetano Mosca</a:t>
            </a:r>
            <a:r>
              <a:rPr lang="es-AR" sz="1800" dirty="0">
                <a:solidFill>
                  <a:schemeClr val="dk1"/>
                </a:solidFill>
              </a:rPr>
              <a:t> habla de "fórmulas políticas" (autoridad de Dios o del pueblo) que dan una base moral y legal al poder.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AR" sz="1800" b="1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 b="1" dirty="0">
                <a:solidFill>
                  <a:schemeClr val="dk1"/>
                </a:solidFill>
              </a:rPr>
              <a:t>Max Weber</a:t>
            </a:r>
            <a:r>
              <a:rPr lang="es-AR" sz="1800" dirty="0">
                <a:solidFill>
                  <a:schemeClr val="dk1"/>
                </a:solidFill>
              </a:rPr>
              <a:t> distingue tres formas de poder legítimo: </a:t>
            </a:r>
            <a:r>
              <a:rPr lang="es-AR" sz="1800" b="1" dirty="0">
                <a:solidFill>
                  <a:schemeClr val="dk1"/>
                </a:solidFill>
              </a:rPr>
              <a:t>tradicional, legal-racional y carismático</a:t>
            </a:r>
            <a:r>
              <a:rPr lang="es-AR" sz="1800" dirty="0">
                <a:solidFill>
                  <a:schemeClr val="dk1"/>
                </a:solidFill>
              </a:rPr>
              <a:t>, explicando las razones reales por las que se obedece en la historia.</a:t>
            </a:r>
            <a:endParaRPr sz="1800" dirty="0">
              <a:solidFill>
                <a:srgbClr val="3A3838"/>
              </a:solidFill>
            </a:endParaRPr>
          </a:p>
        </p:txBody>
      </p:sp>
      <p:pic>
        <p:nvPicPr>
          <p:cNvPr id="170" name="Google Shape;170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71692" y="5933555"/>
            <a:ext cx="2053549" cy="585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g36528e8682b_0_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71692" y="5933555"/>
            <a:ext cx="2053549" cy="585788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g36528e8682b_0_10"/>
          <p:cNvSpPr txBox="1"/>
          <p:nvPr/>
        </p:nvSpPr>
        <p:spPr>
          <a:xfrm>
            <a:off x="309579" y="2214319"/>
            <a:ext cx="11572841" cy="2557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AR" sz="1800" b="1" dirty="0">
                <a:solidFill>
                  <a:schemeClr val="dk1"/>
                </a:solidFill>
              </a:rPr>
              <a:t>Elementos del Estado </a:t>
            </a:r>
            <a:endParaRPr sz="1800" b="1" dirty="0">
              <a:solidFill>
                <a:schemeClr val="dk1"/>
              </a:solidFill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AR" sz="1800" dirty="0">
                <a:solidFill>
                  <a:schemeClr val="dk1"/>
                </a:solidFill>
              </a:rPr>
              <a:t>La doctrina actual distingue entre elementos </a:t>
            </a:r>
            <a:r>
              <a:rPr lang="es-AR" sz="1800" b="1" dirty="0">
                <a:solidFill>
                  <a:schemeClr val="dk1"/>
                </a:solidFill>
              </a:rPr>
              <a:t>sustanciales</a:t>
            </a:r>
            <a:r>
              <a:rPr lang="es-AR" sz="1800" dirty="0">
                <a:solidFill>
                  <a:schemeClr val="dk1"/>
                </a:solidFill>
              </a:rPr>
              <a:t> (esenciales) y </a:t>
            </a:r>
            <a:r>
              <a:rPr lang="es-AR" sz="1800" b="1" dirty="0">
                <a:solidFill>
                  <a:schemeClr val="dk1"/>
                </a:solidFill>
              </a:rPr>
              <a:t>modales</a:t>
            </a:r>
            <a:r>
              <a:rPr lang="es-AR" sz="1800" dirty="0">
                <a:solidFill>
                  <a:schemeClr val="dk1"/>
                </a:solidFill>
              </a:rPr>
              <a:t> (</a:t>
            </a:r>
            <a:r>
              <a:rPr lang="es-AR" sz="1800" dirty="0" err="1">
                <a:solidFill>
                  <a:schemeClr val="dk1"/>
                </a:solidFill>
              </a:rPr>
              <a:t>cualificantes</a:t>
            </a:r>
            <a:r>
              <a:rPr lang="es-AR" sz="1800" dirty="0">
                <a:solidFill>
                  <a:schemeClr val="dk1"/>
                </a:solidFill>
              </a:rPr>
              <a:t>) del Estado.</a:t>
            </a:r>
          </a:p>
          <a:p>
            <a:pPr marL="114300" lvl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endParaRPr sz="1800" dirty="0">
              <a:solidFill>
                <a:schemeClr val="dk1"/>
              </a:solidFill>
            </a:endParaRPr>
          </a:p>
          <a:p>
            <a:pPr marL="355600" lvl="1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AR" sz="1800" b="1" i="1" dirty="0">
                <a:solidFill>
                  <a:schemeClr val="dk1"/>
                </a:solidFill>
              </a:rPr>
              <a:t>Elementos sustanciales</a:t>
            </a:r>
            <a:r>
              <a:rPr lang="es-AR" sz="1800" b="1" dirty="0">
                <a:solidFill>
                  <a:schemeClr val="dk1"/>
                </a:solidFill>
              </a:rPr>
              <a:t>:</a:t>
            </a:r>
            <a:r>
              <a:rPr lang="es-AR" sz="1800" dirty="0">
                <a:solidFill>
                  <a:schemeClr val="dk1"/>
                </a:solidFill>
              </a:rPr>
              <a:t> Territorio, población, poder o gobierno y derecho.</a:t>
            </a:r>
            <a:endParaRPr sz="1800" dirty="0">
              <a:solidFill>
                <a:schemeClr val="dk1"/>
              </a:solidFill>
            </a:endParaRPr>
          </a:p>
          <a:p>
            <a:pPr marL="355600" lvl="1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AR" sz="1800" b="1" i="1" dirty="0">
                <a:solidFill>
                  <a:schemeClr val="dk1"/>
                </a:solidFill>
              </a:rPr>
              <a:t>Elementos modales</a:t>
            </a:r>
            <a:r>
              <a:rPr lang="es-AR" sz="1800" b="1" dirty="0">
                <a:solidFill>
                  <a:schemeClr val="dk1"/>
                </a:solidFill>
              </a:rPr>
              <a:t>:</a:t>
            </a:r>
            <a:r>
              <a:rPr lang="es-AR" sz="1800" dirty="0">
                <a:solidFill>
                  <a:schemeClr val="dk1"/>
                </a:solidFill>
              </a:rPr>
              <a:t> Soberanía (cualifica el poder) e imperio de la ley (cualifica el derecho).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g36528e8682b_0_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71692" y="5933555"/>
            <a:ext cx="2053549" cy="585788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g36528e8682b_0_10"/>
          <p:cNvSpPr txBox="1"/>
          <p:nvPr/>
        </p:nvSpPr>
        <p:spPr>
          <a:xfrm>
            <a:off x="518615" y="685769"/>
            <a:ext cx="11206626" cy="5116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MX" sz="1800" b="1" dirty="0">
                <a:solidFill>
                  <a:schemeClr val="dk1"/>
                </a:solidFill>
              </a:rPr>
              <a:t>Continuación de “elementos del Estado”</a:t>
            </a:r>
            <a:endParaRPr lang="es-AR" sz="1800" dirty="0">
              <a:solidFill>
                <a:schemeClr val="dk1"/>
              </a:solidFill>
            </a:endParaRPr>
          </a:p>
          <a:p>
            <a:pPr marL="914400" lvl="1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endParaRPr lang="es-AR" sz="1800" dirty="0">
              <a:solidFill>
                <a:schemeClr val="dk1"/>
              </a:solidFill>
            </a:endParaRPr>
          </a:p>
          <a:p>
            <a:pPr marL="114300" lvl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s-AR" sz="1800" b="1" dirty="0">
                <a:solidFill>
                  <a:schemeClr val="dk1"/>
                </a:solidFill>
              </a:rPr>
              <a:t>A) Población:</a:t>
            </a:r>
            <a:endParaRPr sz="1800" dirty="0">
              <a:solidFill>
                <a:schemeClr val="dk1"/>
              </a:solidFill>
            </a:endParaRPr>
          </a:p>
          <a:p>
            <a:pPr marL="355600" lvl="1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AR" sz="1800" dirty="0">
                <a:solidFill>
                  <a:schemeClr val="dk1"/>
                </a:solidFill>
              </a:rPr>
              <a:t>Es el </a:t>
            </a:r>
            <a:r>
              <a:rPr lang="es-AR" sz="1800" b="1" dirty="0">
                <a:solidFill>
                  <a:schemeClr val="dk1"/>
                </a:solidFill>
              </a:rPr>
              <a:t>conjunto de personas que habitan el territorio estatal</a:t>
            </a:r>
            <a:r>
              <a:rPr lang="es-AR" sz="1800" dirty="0">
                <a:solidFill>
                  <a:schemeClr val="dk1"/>
                </a:solidFill>
              </a:rPr>
              <a:t>, la </a:t>
            </a:r>
            <a:r>
              <a:rPr lang="es-AR" sz="1800" b="1" dirty="0">
                <a:solidFill>
                  <a:schemeClr val="dk1"/>
                </a:solidFill>
              </a:rPr>
              <a:t>causa material del Estado</a:t>
            </a:r>
            <a:r>
              <a:rPr lang="es-AR" sz="1800" dirty="0">
                <a:solidFill>
                  <a:schemeClr val="dk1"/>
                </a:solidFill>
              </a:rPr>
              <a:t>, su elemento humano.</a:t>
            </a:r>
            <a:endParaRPr sz="1800" dirty="0">
              <a:solidFill>
                <a:schemeClr val="dk1"/>
              </a:solidFill>
            </a:endParaRPr>
          </a:p>
          <a:p>
            <a:pPr marL="355600" lvl="1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AR" sz="1800" dirty="0">
                <a:solidFill>
                  <a:schemeClr val="dk1"/>
                </a:solidFill>
              </a:rPr>
              <a:t>Se distingue entre "pueblo" (titular de derechos políticos) y "población" (totalidad de habitantes).</a:t>
            </a:r>
            <a:endParaRPr sz="1800" dirty="0">
              <a:solidFill>
                <a:schemeClr val="dk1"/>
              </a:solidFill>
            </a:endParaRPr>
          </a:p>
          <a:p>
            <a:pPr marL="355600" lvl="1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AR" sz="1800" dirty="0">
                <a:solidFill>
                  <a:schemeClr val="dk1"/>
                </a:solidFill>
              </a:rPr>
              <a:t>La </a:t>
            </a:r>
            <a:r>
              <a:rPr lang="es-AR" sz="1800" b="1" dirty="0">
                <a:solidFill>
                  <a:schemeClr val="dk1"/>
                </a:solidFill>
              </a:rPr>
              <a:t>persona humana es el núcleo de cualquier agregado social</a:t>
            </a:r>
            <a:r>
              <a:rPr lang="es-AR" sz="1800" dirty="0">
                <a:solidFill>
                  <a:schemeClr val="dk1"/>
                </a:solidFill>
              </a:rPr>
              <a:t>, lo que se contrapone a las doctrinas totalitarias que ven al hombre como un mero instrumento del Estado.</a:t>
            </a:r>
            <a:endParaRPr sz="1800" dirty="0">
              <a:solidFill>
                <a:schemeClr val="dk1"/>
              </a:solidFill>
            </a:endParaRPr>
          </a:p>
          <a:p>
            <a:pPr marL="355600" lvl="1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AR" sz="1800" dirty="0">
                <a:solidFill>
                  <a:schemeClr val="dk1"/>
                </a:solidFill>
              </a:rPr>
              <a:t>La cantidad, composición y calidad demográfica influyen en las políticas estatales.</a:t>
            </a:r>
            <a:endParaRPr sz="1800" dirty="0">
              <a:solidFill>
                <a:schemeClr val="dk1"/>
              </a:solidFill>
            </a:endParaRPr>
          </a:p>
          <a:p>
            <a:pPr marL="355600" lvl="1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AR" sz="1800" b="1" dirty="0">
                <a:solidFill>
                  <a:schemeClr val="dk1"/>
                </a:solidFill>
              </a:rPr>
              <a:t>Teoría de Malthus:</a:t>
            </a:r>
            <a:r>
              <a:rPr lang="es-AR" sz="1800" dirty="0">
                <a:solidFill>
                  <a:schemeClr val="dk1"/>
                </a:solidFill>
              </a:rPr>
              <a:t> Sostenía que la población crece geométricamente, mientras los alimentos lo hacen aritméticamente, previendo escasez y muertes masivas. Proponía la continencia como solución.</a:t>
            </a:r>
            <a:endParaRPr sz="1800" dirty="0">
              <a:solidFill>
                <a:schemeClr val="dk1"/>
              </a:solidFill>
            </a:endParaRPr>
          </a:p>
          <a:p>
            <a:pPr marL="355600" lvl="1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AR" sz="1800" b="1" dirty="0">
                <a:solidFill>
                  <a:schemeClr val="dk1"/>
                </a:solidFill>
              </a:rPr>
              <a:t>Críticas al Maltusianismo:</a:t>
            </a:r>
            <a:r>
              <a:rPr lang="es-AR" sz="1800" dirty="0">
                <a:solidFill>
                  <a:schemeClr val="dk1"/>
                </a:solidFill>
              </a:rPr>
              <a:t> El aumento poblacional no siempre lleva a la pobreza, y los avances culturales, médicos y tecnológicos han refutado sus pensamientos pesimistas.</a:t>
            </a:r>
            <a:endParaRPr sz="1800" dirty="0">
              <a:solidFill>
                <a:schemeClr val="dk1"/>
              </a:solidFill>
            </a:endParaRPr>
          </a:p>
          <a:p>
            <a:pPr marL="355600" lvl="1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AR" sz="1800" b="1" dirty="0">
                <a:solidFill>
                  <a:schemeClr val="dk1"/>
                </a:solidFill>
              </a:rPr>
              <a:t>Neomaltusianismo y control de natalidad:</a:t>
            </a:r>
            <a:r>
              <a:rPr lang="es-AR" sz="1800" dirty="0">
                <a:solidFill>
                  <a:schemeClr val="dk1"/>
                </a:solidFill>
              </a:rPr>
              <a:t> Corriente que propugna la eliminación de neonatos, esterilización y el derecho al aborto, prescindiendo de consideraciones morales.</a:t>
            </a:r>
            <a:endParaRPr sz="18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78764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g36528e8682b_0_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71692" y="5933555"/>
            <a:ext cx="2053549" cy="585788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g36528e8682b_0_16"/>
          <p:cNvSpPr txBox="1"/>
          <p:nvPr/>
        </p:nvSpPr>
        <p:spPr>
          <a:xfrm>
            <a:off x="288877" y="762939"/>
            <a:ext cx="11614245" cy="5170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14300" algn="just">
              <a:lnSpc>
                <a:spcPct val="150000"/>
              </a:lnSpc>
              <a:buClr>
                <a:schemeClr val="dk1"/>
              </a:buClr>
              <a:buSzPts val="1800"/>
            </a:pPr>
            <a:r>
              <a:rPr lang="es-MX" sz="1800" b="1" dirty="0">
                <a:solidFill>
                  <a:schemeClr val="dk1"/>
                </a:solidFill>
              </a:rPr>
              <a:t>Continuación de “elementos del Estado”</a:t>
            </a:r>
            <a:endParaRPr lang="es-AR" sz="1800" dirty="0">
              <a:solidFill>
                <a:schemeClr val="dk1"/>
              </a:solidFill>
            </a:endParaRPr>
          </a:p>
          <a:p>
            <a:pPr marL="11430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endParaRPr lang="es-AR" sz="1800" b="1" dirty="0">
              <a:solidFill>
                <a:schemeClr val="dk1"/>
              </a:solidFill>
            </a:endParaRPr>
          </a:p>
          <a:p>
            <a:pPr marL="11430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s-AR" sz="1800" b="1" dirty="0">
                <a:solidFill>
                  <a:schemeClr val="dk1"/>
                </a:solidFill>
              </a:rPr>
              <a:t>B) Territorio:</a:t>
            </a:r>
            <a:endParaRPr sz="1800" b="1" dirty="0">
              <a:solidFill>
                <a:schemeClr val="dk1"/>
              </a:solidFill>
            </a:endParaRPr>
          </a:p>
          <a:p>
            <a:pPr marL="4572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1"/>
              </a:solidFill>
            </a:endParaRPr>
          </a:p>
          <a:p>
            <a:pPr marL="914400" lvl="1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AR" sz="1800" dirty="0">
                <a:solidFill>
                  <a:schemeClr val="dk1"/>
                </a:solidFill>
              </a:rPr>
              <a:t>Es el </a:t>
            </a:r>
            <a:r>
              <a:rPr lang="es-AR" sz="1800" b="1" dirty="0">
                <a:solidFill>
                  <a:schemeClr val="dk1"/>
                </a:solidFill>
              </a:rPr>
              <a:t>espacio material y geográfico exclusivo</a:t>
            </a:r>
            <a:r>
              <a:rPr lang="es-AR" sz="1800" dirty="0">
                <a:solidFill>
                  <a:schemeClr val="dk1"/>
                </a:solidFill>
              </a:rPr>
              <a:t> del Estado, su soporte físico. Es un </a:t>
            </a:r>
            <a:r>
              <a:rPr lang="es-AR" sz="1800" b="1" dirty="0">
                <a:solidFill>
                  <a:schemeClr val="dk1"/>
                </a:solidFill>
              </a:rPr>
              <a:t>elemento esencial</a:t>
            </a:r>
            <a:r>
              <a:rPr lang="es-AR" sz="1800" dirty="0">
                <a:solidFill>
                  <a:schemeClr val="dk1"/>
                </a:solidFill>
              </a:rPr>
              <a:t>; un Estado no puede existir sin un territorio determinado y exclusivo.</a:t>
            </a:r>
            <a:endParaRPr sz="1800" dirty="0">
              <a:solidFill>
                <a:schemeClr val="dk1"/>
              </a:solidFill>
            </a:endParaRPr>
          </a:p>
          <a:p>
            <a:pPr marL="914400" lvl="1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AR" sz="1800" dirty="0">
                <a:solidFill>
                  <a:schemeClr val="dk1"/>
                </a:solidFill>
              </a:rPr>
              <a:t>Delimita el </a:t>
            </a:r>
            <a:r>
              <a:rPr lang="es-AR" sz="1800" b="1" dirty="0">
                <a:solidFill>
                  <a:schemeClr val="dk1"/>
                </a:solidFill>
              </a:rPr>
              <a:t>área de competencias</a:t>
            </a:r>
            <a:r>
              <a:rPr lang="es-AR" sz="1800" dirty="0">
                <a:solidFill>
                  <a:schemeClr val="dk1"/>
                </a:solidFill>
              </a:rPr>
              <a:t> y el </a:t>
            </a:r>
            <a:r>
              <a:rPr lang="es-AR" sz="1800" b="1" dirty="0">
                <a:solidFill>
                  <a:schemeClr val="dk1"/>
                </a:solidFill>
              </a:rPr>
              <a:t>ámbito espacial de validez de su autoridad</a:t>
            </a:r>
            <a:r>
              <a:rPr lang="es-AR" sz="1800" dirty="0">
                <a:solidFill>
                  <a:schemeClr val="dk1"/>
                </a:solidFill>
              </a:rPr>
              <a:t>. Esto se traduce en:</a:t>
            </a:r>
            <a:endParaRPr sz="1800" dirty="0">
              <a:solidFill>
                <a:schemeClr val="dk1"/>
              </a:solidFill>
            </a:endParaRPr>
          </a:p>
          <a:p>
            <a:pPr marL="1371600" lvl="2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</a:pPr>
            <a:r>
              <a:rPr lang="es-AR" sz="1800" b="1" dirty="0">
                <a:solidFill>
                  <a:schemeClr val="dk1"/>
                </a:solidFill>
              </a:rPr>
              <a:t>Soberanía interna:</a:t>
            </a:r>
            <a:r>
              <a:rPr lang="es-AR" sz="1800" dirty="0">
                <a:solidFill>
                  <a:schemeClr val="dk1"/>
                </a:solidFill>
              </a:rPr>
              <a:t> Ejercicio del poder político dentro de las fronteras.</a:t>
            </a:r>
            <a:endParaRPr sz="1800" dirty="0">
              <a:solidFill>
                <a:schemeClr val="dk1"/>
              </a:solidFill>
            </a:endParaRPr>
          </a:p>
          <a:p>
            <a:pPr marL="1371600" lvl="2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</a:pPr>
            <a:r>
              <a:rPr lang="es-AR" sz="1800" b="1" dirty="0">
                <a:solidFill>
                  <a:schemeClr val="dk1"/>
                </a:solidFill>
              </a:rPr>
              <a:t>Soberanía externa:</a:t>
            </a:r>
            <a:r>
              <a:rPr lang="es-AR" sz="1800" dirty="0">
                <a:solidFill>
                  <a:schemeClr val="dk1"/>
                </a:solidFill>
              </a:rPr>
              <a:t> Afirmación como estado independiente.</a:t>
            </a:r>
            <a:endParaRPr sz="1800" dirty="0">
              <a:solidFill>
                <a:schemeClr val="dk1"/>
              </a:solidFill>
            </a:endParaRPr>
          </a:p>
          <a:p>
            <a:pPr marL="914400" lvl="1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AR" sz="1800" b="1" dirty="0">
                <a:solidFill>
                  <a:schemeClr val="dk1"/>
                </a:solidFill>
              </a:rPr>
              <a:t>Extensión territorial:</a:t>
            </a:r>
            <a:r>
              <a:rPr lang="es-AR" sz="1800" dirty="0">
                <a:solidFill>
                  <a:schemeClr val="dk1"/>
                </a:solidFill>
              </a:rPr>
              <a:t> Incluye el </a:t>
            </a:r>
            <a:r>
              <a:rPr lang="es-AR" sz="1800" b="1" dirty="0">
                <a:solidFill>
                  <a:schemeClr val="dk1"/>
                </a:solidFill>
              </a:rPr>
              <a:t>espacio aéreo</a:t>
            </a:r>
            <a:r>
              <a:rPr lang="es-AR" sz="1800" dirty="0">
                <a:solidFill>
                  <a:schemeClr val="dk1"/>
                </a:solidFill>
              </a:rPr>
              <a:t> (jurisdicción estatal sobre el espacio, sobre tierra y agua) y el </a:t>
            </a:r>
            <a:r>
              <a:rPr lang="es-AR" sz="1800" b="1" dirty="0">
                <a:solidFill>
                  <a:schemeClr val="dk1"/>
                </a:solidFill>
              </a:rPr>
              <a:t>mar territorial</a:t>
            </a:r>
            <a:r>
              <a:rPr lang="es-AR" sz="1800" dirty="0">
                <a:solidFill>
                  <a:schemeClr val="dk1"/>
                </a:solidFill>
              </a:rPr>
              <a:t> (regulado por el derecho internacional público).</a:t>
            </a:r>
            <a:endParaRPr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g36528e8682b_0_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71692" y="5933555"/>
            <a:ext cx="2053549" cy="585788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g36528e8682b_0_20"/>
          <p:cNvSpPr txBox="1"/>
          <p:nvPr/>
        </p:nvSpPr>
        <p:spPr>
          <a:xfrm>
            <a:off x="109182" y="1024549"/>
            <a:ext cx="11452286" cy="4909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lvl="1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AR" sz="1800" b="1" dirty="0">
                <a:solidFill>
                  <a:schemeClr val="dk1"/>
                </a:solidFill>
              </a:rPr>
              <a:t>Ocupación Territorial:</a:t>
            </a:r>
            <a:r>
              <a:rPr lang="es-AR" sz="1800" dirty="0">
                <a:solidFill>
                  <a:schemeClr val="dk1"/>
                </a:solidFill>
              </a:rPr>
              <a:t> En casos de ocupación por otro Estado, se considera una </a:t>
            </a:r>
            <a:r>
              <a:rPr lang="es-AR" sz="1800" b="1" dirty="0">
                <a:solidFill>
                  <a:schemeClr val="dk1"/>
                </a:solidFill>
              </a:rPr>
              <a:t>"parálisis" transitoria</a:t>
            </a:r>
            <a:r>
              <a:rPr lang="es-AR" sz="1800" dirty="0">
                <a:solidFill>
                  <a:schemeClr val="dk1"/>
                </a:solidFill>
              </a:rPr>
              <a:t> o "competencia repartida/suspendida" del Estado, que no implica su desaparición. Las Naciones Unidas establecieron un "Régimen internacional de administración fiduciaria" para supervisar estos territorios, muchos de los cuales lograron la independencia.</a:t>
            </a:r>
            <a:endParaRPr sz="1800" dirty="0">
              <a:solidFill>
                <a:schemeClr val="dk1"/>
              </a:solidFill>
            </a:endParaRPr>
          </a:p>
          <a:p>
            <a:pPr marL="914400" lvl="1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AR" sz="1800" b="1" dirty="0">
                <a:solidFill>
                  <a:schemeClr val="dk1"/>
                </a:solidFill>
              </a:rPr>
              <a:t>Geopolítica:</a:t>
            </a:r>
            <a:r>
              <a:rPr lang="es-AR" sz="1800" dirty="0">
                <a:solidFill>
                  <a:schemeClr val="dk1"/>
                </a:solidFill>
              </a:rPr>
              <a:t> Es la disciplina que estudia la </a:t>
            </a:r>
            <a:r>
              <a:rPr lang="es-AR" sz="1800" b="1" dirty="0">
                <a:solidFill>
                  <a:schemeClr val="dk1"/>
                </a:solidFill>
              </a:rPr>
              <a:t>influencia del elemento territorial sobre el Estado y su régimen político</a:t>
            </a:r>
            <a:r>
              <a:rPr lang="es-AR" sz="1800" dirty="0">
                <a:solidFill>
                  <a:schemeClr val="dk1"/>
                </a:solidFill>
              </a:rPr>
              <a:t>. Considera tamaño, ubicación, clima y densidad poblacional.</a:t>
            </a:r>
            <a:endParaRPr sz="1800" dirty="0">
              <a:solidFill>
                <a:schemeClr val="dk1"/>
              </a:solidFill>
            </a:endParaRPr>
          </a:p>
          <a:p>
            <a:pPr marL="1371600" lvl="2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</a:pPr>
            <a:r>
              <a:rPr lang="es-AR" sz="1800" b="1" dirty="0">
                <a:solidFill>
                  <a:schemeClr val="dk1"/>
                </a:solidFill>
              </a:rPr>
              <a:t>Escuela de Múnich:</a:t>
            </a:r>
            <a:r>
              <a:rPr lang="es-AR" sz="1800" dirty="0">
                <a:solidFill>
                  <a:schemeClr val="dk1"/>
                </a:solidFill>
              </a:rPr>
              <a:t> Doctrina extrema que concebía al Estado como un organismo vivo que debe expandirse, reclamando un </a:t>
            </a:r>
            <a:r>
              <a:rPr lang="es-AR" sz="1800" b="1" dirty="0">
                <a:solidFill>
                  <a:schemeClr val="dk1"/>
                </a:solidFill>
              </a:rPr>
              <a:t>"espacio vital"</a:t>
            </a:r>
            <a:r>
              <a:rPr lang="es-AR" sz="1800" dirty="0">
                <a:solidFill>
                  <a:schemeClr val="dk1"/>
                </a:solidFill>
              </a:rPr>
              <a:t> (</a:t>
            </a:r>
            <a:r>
              <a:rPr lang="es-AR" sz="1800" dirty="0" err="1">
                <a:solidFill>
                  <a:schemeClr val="dk1"/>
                </a:solidFill>
              </a:rPr>
              <a:t>lebensraum</a:t>
            </a:r>
            <a:r>
              <a:rPr lang="es-AR" sz="1800" dirty="0">
                <a:solidFill>
                  <a:schemeClr val="dk1"/>
                </a:solidFill>
              </a:rPr>
              <a:t>) y dividiendo el mundo en "pan-regiones". Fue adoptada por la política exterior nazi.</a:t>
            </a:r>
            <a:endParaRPr sz="1800" dirty="0">
              <a:solidFill>
                <a:schemeClr val="dk1"/>
              </a:solidFill>
            </a:endParaRPr>
          </a:p>
          <a:p>
            <a:pPr marL="1371600" lvl="2" indent="-342900" algn="just" rtl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</a:pPr>
            <a:r>
              <a:rPr lang="es-AR" sz="1800" b="1" dirty="0">
                <a:solidFill>
                  <a:schemeClr val="dk1"/>
                </a:solidFill>
              </a:rPr>
              <a:t>Consideración actual:</a:t>
            </a:r>
            <a:r>
              <a:rPr lang="es-AR" sz="1800" dirty="0">
                <a:solidFill>
                  <a:schemeClr val="dk1"/>
                </a:solidFill>
              </a:rPr>
              <a:t> Despojada de extremismos, la geopolítica es una herramienta útil para relacionar las decisiones políticas con la realidad geográfica de cada Estado.</a:t>
            </a:r>
            <a:endParaRPr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g36528e8682b_0_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71692" y="5933555"/>
            <a:ext cx="2053549" cy="585788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g36528e8682b_0_30"/>
          <p:cNvSpPr txBox="1"/>
          <p:nvPr/>
        </p:nvSpPr>
        <p:spPr>
          <a:xfrm>
            <a:off x="670107" y="1443856"/>
            <a:ext cx="10851785" cy="3970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AR" sz="1800" b="1" dirty="0">
                <a:solidFill>
                  <a:schemeClr val="dk1"/>
                </a:solidFill>
              </a:rPr>
              <a:t>Conclusión </a:t>
            </a:r>
            <a:endParaRPr sz="1800" b="1" dirty="0">
              <a:solidFill>
                <a:schemeClr val="dk1"/>
              </a:solidFill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AR" sz="1800" dirty="0">
                <a:solidFill>
                  <a:schemeClr val="dk1"/>
                </a:solidFill>
              </a:rPr>
              <a:t>Como hemos visto, el Estado es una entidad compleja y dinámica, cuyo estudio abarca desde sus definiciones más básicas hasta sus desafíos más contemporáneos.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AR" sz="1800" dirty="0">
                <a:solidFill>
                  <a:schemeClr val="dk1"/>
                </a:solidFill>
              </a:rPr>
              <a:t>Comprender su evolución, las diferentes concepciones sobre su naturaleza y legitimidad, así como sus elementos constitutivos, nos brinda herramientas esenciales para analizar las sociedades en las que vivimos.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●"/>
            </a:pPr>
            <a:r>
              <a:rPr lang="es-AR" sz="1800" dirty="0">
                <a:solidFill>
                  <a:schemeClr val="dk1"/>
                </a:solidFill>
              </a:rPr>
              <a:t>La discusión sobre la "crisis del Estado" nos recuerda que esta institución no es estática, sino que se adapta y transforma constantemente frente a los cambios globales y las demandas sociales.</a:t>
            </a:r>
            <a:endParaRPr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1920</Words>
  <Application>Microsoft Office PowerPoint</Application>
  <PresentationFormat>Panorámica</PresentationFormat>
  <Paragraphs>105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Nata Urs</dc:creator>
  <cp:lastModifiedBy>Mercedes Somosierra</cp:lastModifiedBy>
  <cp:revision>1</cp:revision>
  <dcterms:created xsi:type="dcterms:W3CDTF">2020-11-27T15:30:54Z</dcterms:created>
  <dcterms:modified xsi:type="dcterms:W3CDTF">2025-09-04T15:31:40Z</dcterms:modified>
</cp:coreProperties>
</file>